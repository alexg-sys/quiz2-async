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000000"/>
                </a:solidFill>
                <a:latin typeface="Arial"/>
              </a:defRPr>
            </a:pPr>
            <a:r>
              <a:rPr b="0" sz="1300" spc="-1" strike="noStrike">
                <a:solidFill>
                  <a:srgbClr val="000000"/>
                </a:solidFill>
                <a:latin typeface="Arial"/>
              </a:rPr>
              <a:t>Acknowledgment vs. completion time, by --report-delay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ack_time (s)</c:v>
                </c:pt>
              </c:strCache>
            </c:strRef>
          </c:tx>
          <c:spPr>
            <a:solidFill>
              <a:srgbClr val="f2a93b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0.1s</c:v>
                </c:pt>
                <c:pt idx="1">
                  <c:v>1s</c:v>
                </c:pt>
                <c:pt idx="2">
                  <c:v>3s</c:v>
                </c:pt>
                <c:pt idx="3">
                  <c:v>5s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0.09</c:v>
                </c:pt>
                <c:pt idx="1">
                  <c:v>0.08</c:v>
                </c:pt>
                <c:pt idx="2">
                  <c:v>0.09</c:v>
                </c:pt>
                <c:pt idx="3">
                  <c:v>0.08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complete_time (s)</c:v>
                </c:pt>
              </c:strCache>
            </c:strRef>
          </c:tx>
          <c:spPr>
            <a:solidFill>
              <a:srgbClr val="1e2761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0.1s</c:v>
                </c:pt>
                <c:pt idx="1">
                  <c:v>1s</c:v>
                </c:pt>
                <c:pt idx="2">
                  <c:v>3s</c:v>
                </c:pt>
                <c:pt idx="3">
                  <c:v>5s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0.6</c:v>
                </c:pt>
                <c:pt idx="1">
                  <c:v>1.5</c:v>
                </c:pt>
                <c:pt idx="2">
                  <c:v>3.6</c:v>
                </c:pt>
                <c:pt idx="3">
                  <c:v>5.7</c:v>
                </c:pt>
              </c:numCache>
            </c:numRef>
          </c:val>
        </c:ser>
        <c:gapWidth val="150"/>
        <c:overlap val="0"/>
        <c:axId val="53998446"/>
        <c:axId val="21819317"/>
      </c:barChart>
      <c:catAx>
        <c:axId val="5399844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280"/>
                </a:solidFill>
                <a:latin typeface="Arial"/>
              </a:defRPr>
            </a:pPr>
          </a:p>
        </c:txPr>
        <c:crossAx val="21819317"/>
        <c:crosses val="autoZero"/>
        <c:auto val="1"/>
        <c:lblAlgn val="ctr"/>
        <c:lblOffset val="100"/>
        <c:noMultiLvlLbl val="0"/>
      </c:catAx>
      <c:valAx>
        <c:axId val="21819317"/>
        <c:scaling>
          <c:orientation val="minMax"/>
        </c:scaling>
        <c:delete val="0"/>
        <c:axPos val="l"/>
        <c:majorGridlines>
          <c:spPr>
            <a:ln w="12600">
              <a:solidFill>
                <a:srgbClr val="e5e7eb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sz="1000" spc="-1" strike="noStrike">
                    <a:solidFill>
                      <a:srgbClr val="000000"/>
                    </a:solidFill>
                    <a:latin typeface="Arial"/>
                  </a:rPr>
                  <a:t>seconds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280"/>
                </a:solidFill>
                <a:latin typeface="Arial"/>
              </a:defRPr>
            </a:pPr>
          </a:p>
        </c:txPr>
        <c:crossAx val="5399844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3DD667B-726E-491C-8863-D98375492EC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D4449A-ABA6-484E-94C2-C96B86CB3F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D5E855-99CB-4B55-B1E5-933A0724F4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3DF0A1-E38C-47A3-B317-7130EDAD6F3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204F9D-463E-4053-AA5F-775E120F7B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BBA055-6E1D-417C-AC9E-69A50B7808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9E49E5-C922-4A84-8F19-8C053F965D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898B04-9BD5-424F-914E-7C546F5375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6871F8-DBF3-446D-AF82-02EFB1D836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E67FEF-4D88-481F-A357-0C1AD3E1F3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8AA309-FD77-4BFA-97D3-3279736D23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34DB76-7AFB-46E6-B6A9-C00E5AAB31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D54F6A-3D8B-42DF-81D8-97AFC129CC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822960" y="8229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5" strike="noStrike">
                <a:solidFill>
                  <a:srgbClr val="cadcfc"/>
                </a:solidFill>
                <a:latin typeface="Calibri"/>
                <a:ea typeface="Calibri"/>
              </a:rPr>
              <a:t>CMPS4191 · Advanced Web Development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822960" y="2286000"/>
            <a:ext cx="102405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mbria"/>
                <a:ea typeface="Cambria"/>
              </a:rPr>
              <a:t>Asynchronous Job + Worker + HTTP 202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3429000"/>
            <a:ext cx="10057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cadcfc"/>
                </a:solidFill>
                <a:latin typeface="Calibri"/>
                <a:ea typeface="Calibri"/>
              </a:rPr>
              <a:t>Architecture Walk through — Gatekeeper Report Service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22960" y="470916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2a3470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4709160"/>
            <a:ext cx="22852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Client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3108960" y="5097600"/>
            <a:ext cx="1005840" cy="9000"/>
          </a:xfrm>
          <a:prstGeom prst="line">
            <a:avLst/>
          </a:prstGeom>
          <a:ln w="22225">
            <a:solidFill>
              <a:srgbClr val="cadcf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4114800" y="470916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2a93b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114800" y="4709160"/>
            <a:ext cx="22852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API (202)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6400800" y="5097600"/>
            <a:ext cx="1005840" cy="9000"/>
          </a:xfrm>
          <a:prstGeom prst="line">
            <a:avLst/>
          </a:prstGeom>
          <a:ln w="22225">
            <a:solidFill>
              <a:srgbClr val="cadcf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7406640" y="470916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2a3470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406640" y="4709160"/>
            <a:ext cx="22852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Worker + DB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822960" y="612648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Alex Guerra  ·  2019119572  ·  CMPS4191  ·  Aug 30, 2026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48640" y="3200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2a93b"/>
                </a:solidFill>
                <a:latin typeface="Calibri"/>
                <a:ea typeface="Calibri"/>
              </a:rPr>
              <a:t>TOPIC 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48640" y="567000"/>
            <a:ext cx="11063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The Problem, and the Requirement It Creates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548640" y="1600200"/>
            <a:ext cx="5257080" cy="4296960"/>
          </a:xfrm>
          <a:prstGeom prst="roundRect">
            <a:avLst>
              <a:gd name="adj" fmla="val 1702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822960" y="1828800"/>
            <a:ext cx="4708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23a48"/>
                </a:solidFill>
                <a:latin typeface="Calibri"/>
                <a:ea typeface="Calibri"/>
              </a:rPr>
              <a:t>Synchronous report generation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822960" y="2468880"/>
            <a:ext cx="4708440" cy="291960"/>
          </a:xfrm>
          <a:prstGeom prst="rect">
            <a:avLst/>
          </a:prstGeom>
          <a:solidFill>
            <a:srgbClr val="e7c9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822960" y="2468880"/>
            <a:ext cx="658440" cy="291960"/>
          </a:xfrm>
          <a:prstGeom prst="rect">
            <a:avLst/>
          </a:prstGeom>
          <a:solidFill>
            <a:srgbClr val="b23a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797920"/>
            <a:ext cx="65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request received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1482120" y="2797920"/>
            <a:ext cx="3295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b23a48"/>
                </a:solidFill>
                <a:latin typeface="Calibri"/>
                <a:ea typeface="Calibri"/>
              </a:rPr>
              <a:t>connection held open for the entire report duration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822960" y="3246120"/>
            <a:ext cx="470844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b1f3b"/>
                </a:solidFill>
                <a:latin typeface="Calibri"/>
                <a:ea typeface="Calibri"/>
              </a:rPr>
              <a:t>Handler goroutine blocks for the full duration of Reports.Generate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b1f3b"/>
                </a:solidFill>
                <a:latin typeface="Calibri"/>
                <a:ea typeface="Calibri"/>
              </a:rPr>
              <a:t>One HTTP goroutine + one DB connection held for the whole window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b1f3b"/>
                </a:solidFill>
                <a:latin typeface="Calibri"/>
                <a:ea typeface="Calibri"/>
              </a:rPr>
              <a:t>Risk of hitting WriteTimeout (10s) on a slow aggregation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b1f3b"/>
                </a:solidFill>
                <a:latin typeface="Calibri"/>
                <a:ea typeface="Calibri"/>
              </a:rPr>
              <a:t>Doesn't scale: every slow report ties up resources for as long as it runs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6355080" y="1600200"/>
            <a:ext cx="5257080" cy="429696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6629400" y="1828800"/>
            <a:ext cx="4708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2a93b"/>
                </a:solidFill>
                <a:latin typeface="Calibri"/>
                <a:ea typeface="Calibri"/>
              </a:rPr>
              <a:t>What's required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6629400" y="2377440"/>
            <a:ext cx="4708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“</a:t>
            </a:r>
            <a:r>
              <a:rPr b="0" i="1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Acknowledge quickly. Execute later.”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6629400" y="3200400"/>
            <a:ext cx="470844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cadcfc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Response latency must be decoupled from report cost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cadcfc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The client should get a fast, honest answer: “received”, not “done”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cadcfc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Report execution moves to a background worker — off the request path entirely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11612880" y="6473880"/>
            <a:ext cx="365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548640" y="3200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2a93b"/>
                </a:solidFill>
                <a:latin typeface="Calibri"/>
                <a:ea typeface="Calibri"/>
              </a:rPr>
              <a:t>TOPIC 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548640" y="567000"/>
            <a:ext cx="11063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HTTP Contract: 202 Accepted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548640" y="141732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202 promises the request was recorded for processing — not that the report has finished, or will succeed.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548640" y="2057400"/>
            <a:ext cx="3291120" cy="383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548640" y="205740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POST /v1/reports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5"/>
          <p:cNvSpPr/>
          <p:nvPr/>
        </p:nvSpPr>
        <p:spPr>
          <a:xfrm>
            <a:off x="548640" y="2560320"/>
            <a:ext cx="5394240" cy="1416600"/>
          </a:xfrm>
          <a:prstGeom prst="roundRect">
            <a:avLst>
              <a:gd name="adj" fmla="val 3871"/>
            </a:avLst>
          </a:prstGeom>
          <a:solidFill>
            <a:srgbClr val="1016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749880" y="2706480"/>
            <a:ext cx="499176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"consumer_id": "cns_8fa1",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"from": "2026-08-01T00:00:00Z",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"to":   "2026-09-01T00:00:00Z"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548640" y="4114800"/>
            <a:ext cx="5394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2a93b"/>
                </a:solidFill>
                <a:latin typeface="Calibri"/>
                <a:ea typeface="Calibri"/>
              </a:rPr>
              <a:t>↓  </a:t>
            </a:r>
            <a:r>
              <a:rPr b="1" lang="en-US" sz="1300" spc="-1" strike="noStrike">
                <a:solidFill>
                  <a:srgbClr val="f2a93b"/>
                </a:solidFill>
                <a:latin typeface="Calibri"/>
                <a:ea typeface="Calibri"/>
              </a:rPr>
              <a:t>202 Accepted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548640" y="4480560"/>
            <a:ext cx="5394240" cy="1416600"/>
          </a:xfrm>
          <a:prstGeom prst="roundRect">
            <a:avLst>
              <a:gd name="adj" fmla="val 3871"/>
            </a:avLst>
          </a:prstGeom>
          <a:solidFill>
            <a:srgbClr val="1016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749880" y="4626720"/>
            <a:ext cx="499176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"job_id": "job_9c2e7a",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"status": "queued",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"status_url": "/v1/jobs/job_9c2e7a"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6263640" y="2057400"/>
            <a:ext cx="3291120" cy="3834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6263640" y="205740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GET /v1/jobs/{id}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6263640" y="2560320"/>
            <a:ext cx="5394240" cy="1736640"/>
          </a:xfrm>
          <a:prstGeom prst="roundRect">
            <a:avLst>
              <a:gd name="adj" fmla="val 3158"/>
            </a:avLst>
          </a:prstGeom>
          <a:solidFill>
            <a:srgbClr val="1016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6464880" y="2706480"/>
            <a:ext cx="4991760" cy="14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"job": 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"id": "job_9c2e7a",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"status": "processing",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"started_at": "2026-08-30T18:04:12Z"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6263640" y="4526280"/>
            <a:ext cx="539424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1b1f3b"/>
                </a:solidFill>
                <a:latin typeface="Calibri"/>
                <a:ea typeface="Calibri"/>
              </a:rPr>
              <a:t>Read-only, idempotent — polling it never changes state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1b1f3b"/>
                </a:solidFill>
                <a:latin typeface="Calibri"/>
                <a:ea typeface="Calibri"/>
              </a:rPr>
              <a:t>Returned job_id is the PublicID, never the internal DB id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1b1f3b"/>
                </a:solidFill>
                <a:latin typeface="Calibri"/>
                <a:ea typeface="Calibri"/>
              </a:rPr>
              <a:t>Client re-polls this same URL until status is completed or failed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11612880" y="6473880"/>
            <a:ext cx="365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48640" y="3200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2a93b"/>
                </a:solidFill>
                <a:latin typeface="Calibri"/>
                <a:ea typeface="Calibri"/>
              </a:rPr>
              <a:t>TOPIC 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48640" y="567000"/>
            <a:ext cx="11063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System Architecture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548640" y="2011680"/>
            <a:ext cx="1736640" cy="822240"/>
          </a:xfrm>
          <a:prstGeom prst="roundRect">
            <a:avLst>
              <a:gd name="adj" fmla="val 8889"/>
            </a:avLst>
          </a:prstGeom>
          <a:solidFill>
            <a:srgbClr val="2a3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548640" y="2011680"/>
            <a:ext cx="17366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Client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2834640" y="2011680"/>
            <a:ext cx="2102400" cy="822240"/>
          </a:xfrm>
          <a:prstGeom prst="roundRect">
            <a:avLst>
              <a:gd name="adj" fmla="val 8889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2834640" y="2011680"/>
            <a:ext cx="2102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POST handler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6"/>
          <p:cNvSpPr/>
          <p:nvPr/>
        </p:nvSpPr>
        <p:spPr>
          <a:xfrm>
            <a:off x="5532120" y="2011680"/>
            <a:ext cx="2376720" cy="82224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5532120" y="2011680"/>
            <a:ext cx="23767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Postgres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jobs 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8503920" y="2011680"/>
            <a:ext cx="1919520" cy="822240"/>
          </a:xfrm>
          <a:prstGeom prst="roundRect">
            <a:avLst>
              <a:gd name="adj" fmla="val 8889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8503920" y="2011680"/>
            <a:ext cx="1919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Worker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0"/>
          <p:cNvSpPr/>
          <p:nvPr/>
        </p:nvSpPr>
        <p:spPr>
          <a:xfrm>
            <a:off x="2286000" y="2423160"/>
            <a:ext cx="548640" cy="900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1"/>
          <p:cNvSpPr/>
          <p:nvPr/>
        </p:nvSpPr>
        <p:spPr>
          <a:xfrm>
            <a:off x="4937760" y="2423160"/>
            <a:ext cx="594360" cy="900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2"/>
          <p:cNvSpPr/>
          <p:nvPr/>
        </p:nvSpPr>
        <p:spPr>
          <a:xfrm flipH="1">
            <a:off x="7909560" y="2423160"/>
            <a:ext cx="594360" cy="900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3"/>
          <p:cNvSpPr/>
          <p:nvPr/>
        </p:nvSpPr>
        <p:spPr>
          <a:xfrm>
            <a:off x="8503920" y="3657600"/>
            <a:ext cx="1919520" cy="822240"/>
          </a:xfrm>
          <a:prstGeom prst="roundRect">
            <a:avLst>
              <a:gd name="adj" fmla="val 8889"/>
            </a:avLst>
          </a:prstGeom>
          <a:solidFill>
            <a:srgbClr val="2a3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8503920" y="3657600"/>
            <a:ext cx="1919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Report query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(Generate)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5"/>
          <p:cNvSpPr/>
          <p:nvPr/>
        </p:nvSpPr>
        <p:spPr>
          <a:xfrm>
            <a:off x="2834640" y="3657600"/>
            <a:ext cx="2102400" cy="822240"/>
          </a:xfrm>
          <a:prstGeom prst="roundRect">
            <a:avLst>
              <a:gd name="adj" fmla="val 8889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2834640" y="3657600"/>
            <a:ext cx="2102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GET handler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7"/>
          <p:cNvSpPr/>
          <p:nvPr/>
        </p:nvSpPr>
        <p:spPr>
          <a:xfrm>
            <a:off x="548640" y="3657600"/>
            <a:ext cx="1736640" cy="822240"/>
          </a:xfrm>
          <a:prstGeom prst="roundRect">
            <a:avLst>
              <a:gd name="adj" fmla="val 8889"/>
            </a:avLst>
          </a:prstGeom>
          <a:solidFill>
            <a:srgbClr val="2a3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548640" y="3657600"/>
            <a:ext cx="17366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Client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9"/>
          <p:cNvSpPr/>
          <p:nvPr/>
        </p:nvSpPr>
        <p:spPr>
          <a:xfrm flipH="1">
            <a:off x="7909560" y="4069080"/>
            <a:ext cx="594360" cy="900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20"/>
          <p:cNvSpPr/>
          <p:nvPr/>
        </p:nvSpPr>
        <p:spPr>
          <a:xfrm>
            <a:off x="4937760" y="4069080"/>
            <a:ext cx="594360" cy="900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1"/>
          <p:cNvSpPr/>
          <p:nvPr/>
        </p:nvSpPr>
        <p:spPr>
          <a:xfrm>
            <a:off x="2286000" y="4069080"/>
            <a:ext cx="548640" cy="900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2"/>
          <p:cNvSpPr/>
          <p:nvPr/>
        </p:nvSpPr>
        <p:spPr>
          <a:xfrm>
            <a:off x="5532120" y="3657600"/>
            <a:ext cx="2376720" cy="82224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3"/>
          <p:cNvSpPr/>
          <p:nvPr/>
        </p:nvSpPr>
        <p:spPr>
          <a:xfrm>
            <a:off x="5532120" y="3657600"/>
            <a:ext cx="23767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Postgres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jobs 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4"/>
          <p:cNvSpPr/>
          <p:nvPr/>
        </p:nvSpPr>
        <p:spPr>
          <a:xfrm>
            <a:off x="2834640" y="1627560"/>
            <a:ext cx="5119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b7280"/>
                </a:solidFill>
                <a:latin typeface="Calibri"/>
                <a:ea typeface="Calibri"/>
              </a:rPr>
              <a:t>request path (fast)              →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5"/>
          <p:cNvSpPr/>
          <p:nvPr/>
        </p:nvSpPr>
        <p:spPr>
          <a:xfrm>
            <a:off x="5532120" y="4553640"/>
            <a:ext cx="5119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b7280"/>
                </a:solidFill>
                <a:latin typeface="Calibri"/>
                <a:ea typeface="Calibri"/>
              </a:rPr>
              <a:t>background path (slow, later)  ←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6"/>
          <p:cNvSpPr/>
          <p:nvPr/>
        </p:nvSpPr>
        <p:spPr>
          <a:xfrm>
            <a:off x="548640" y="5074920"/>
            <a:ext cx="1106352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b1f3b"/>
                </a:solidFill>
                <a:latin typeface="Calibri"/>
                <a:ea typeface="Calibri"/>
              </a:rPr>
              <a:t>PostgreSQL's jobs table is the single source of truth both paths read and write — the request path and worker path never talk to each other directly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b1f3b"/>
                </a:solidFill>
                <a:latin typeface="Calibri"/>
                <a:ea typeface="Calibri"/>
              </a:rPr>
              <a:t>Client, POST handler, and GET handler share one contract: the job row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7"/>
          <p:cNvSpPr/>
          <p:nvPr/>
        </p:nvSpPr>
        <p:spPr>
          <a:xfrm>
            <a:off x="11612880" y="6473880"/>
            <a:ext cx="365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48640" y="3200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2a93b"/>
                </a:solidFill>
                <a:latin typeface="Calibri"/>
                <a:ea typeface="Calibri"/>
              </a:rPr>
              <a:t>TOPIC 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48640" y="567000"/>
            <a:ext cx="11063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Job Lifecycle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548640" y="2377440"/>
            <a:ext cx="2148120" cy="68508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548640" y="2377440"/>
            <a:ext cx="2148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queued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3246120" y="2377440"/>
            <a:ext cx="2148120" cy="68508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3246120" y="2377440"/>
            <a:ext cx="2148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processing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2697480" y="2720160"/>
            <a:ext cx="548640" cy="900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548640" y="2066400"/>
            <a:ext cx="2148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b7280"/>
                </a:solidFill>
                <a:latin typeface="Calibri"/>
                <a:ea typeface="Calibri"/>
              </a:rPr>
              <a:t>Jobs.Insert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2423160" y="2066400"/>
            <a:ext cx="1096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b7280"/>
                </a:solidFill>
                <a:latin typeface="Calibri"/>
                <a:ea typeface="Calibri"/>
              </a:rPr>
              <a:t>ClaimNext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9"/>
          <p:cNvSpPr/>
          <p:nvPr/>
        </p:nvSpPr>
        <p:spPr>
          <a:xfrm>
            <a:off x="5943600" y="1371600"/>
            <a:ext cx="2148120" cy="685080"/>
          </a:xfrm>
          <a:prstGeom prst="roundRect">
            <a:avLst>
              <a:gd name="adj" fmla="val 13333"/>
            </a:avLst>
          </a:prstGeom>
          <a:solidFill>
            <a:srgbClr val="2e7d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0"/>
          <p:cNvSpPr/>
          <p:nvPr/>
        </p:nvSpPr>
        <p:spPr>
          <a:xfrm>
            <a:off x="5943600" y="1371600"/>
            <a:ext cx="2148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completed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1"/>
          <p:cNvSpPr/>
          <p:nvPr/>
        </p:nvSpPr>
        <p:spPr>
          <a:xfrm flipV="1">
            <a:off x="5394960" y="1714320"/>
            <a:ext cx="548640" cy="1005840"/>
          </a:xfrm>
          <a:prstGeom prst="line">
            <a:avLst/>
          </a:prstGeom>
          <a:ln w="22225">
            <a:solidFill>
              <a:srgbClr val="2e7d5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4663440" y="162756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e7d5b"/>
                </a:solidFill>
                <a:latin typeface="Calibri"/>
                <a:ea typeface="Calibri"/>
              </a:rPr>
              <a:t>MarkCompleted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5943600" y="3383280"/>
            <a:ext cx="2148120" cy="685080"/>
          </a:xfrm>
          <a:prstGeom prst="roundRect">
            <a:avLst>
              <a:gd name="adj" fmla="val 13333"/>
            </a:avLst>
          </a:prstGeom>
          <a:solidFill>
            <a:srgbClr val="b23a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5943600" y="3383280"/>
            <a:ext cx="2148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failed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5"/>
          <p:cNvSpPr/>
          <p:nvPr/>
        </p:nvSpPr>
        <p:spPr>
          <a:xfrm>
            <a:off x="5394960" y="2720160"/>
            <a:ext cx="548640" cy="1005840"/>
          </a:xfrm>
          <a:prstGeom prst="line">
            <a:avLst/>
          </a:prstGeom>
          <a:ln w="22225">
            <a:solidFill>
              <a:srgbClr val="b23a4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4754880" y="336492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b23a48"/>
                </a:solidFill>
                <a:latin typeface="Calibri"/>
                <a:ea typeface="Calibri"/>
              </a:rPr>
              <a:t>MarkFailed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548640" y="4481280"/>
            <a:ext cx="110635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b1f3b"/>
                </a:solidFill>
                <a:latin typeface="Calibri"/>
                <a:ea typeface="Calibri"/>
              </a:rPr>
              <a:t>queued → processing: ClaimNext, inside one transaction (started_at set)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b1f3b"/>
                </a:solidFill>
                <a:latin typeface="Calibri"/>
                <a:ea typeface="Calibri"/>
              </a:rPr>
              <a:t>processing → completed: MarkCompleted (result + completed_at set)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b1f3b"/>
                </a:solidFill>
                <a:latin typeface="Calibri"/>
                <a:ea typeface="Calibri"/>
              </a:rPr>
              <a:t>processing → failed: MarkFailed (error_message + completed_at set)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b1f3b"/>
                </a:solidFill>
                <a:latin typeface="Calibri"/>
                <a:ea typeface="Calibri"/>
              </a:rPr>
              <a:t>completed and failed are both terminal — GET stops changing after either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11612880" y="6473880"/>
            <a:ext cx="365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48640" y="3200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2a93b"/>
                </a:solidFill>
                <a:latin typeface="Calibri"/>
                <a:ea typeface="Calibri"/>
              </a:rPr>
              <a:t>TOPIC 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48640" y="567000"/>
            <a:ext cx="11063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Creating and Persisting a Job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548640" y="1600200"/>
            <a:ext cx="6034320" cy="3245400"/>
          </a:xfrm>
          <a:prstGeom prst="roundRect">
            <a:avLst>
              <a:gd name="adj" fmla="val 1690"/>
            </a:avLst>
          </a:prstGeom>
          <a:solidFill>
            <a:srgbClr val="1016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749880" y="1746360"/>
            <a:ext cx="5631840" cy="29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payload, _ := json.Marshal(job.Payload)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query := `INSERT INTO jobs (consumer_id, job_type, payload)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VALUES ($1, $2, $3)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RETURNING id, public_id, status, created_at`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m.DB.QueryRowContext(ctx, query,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    </a:t>
            </a: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job.ConsumerID, job.JobType, payload).Scan(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&amp;job.ID, &amp;job.PublicID, &amp;job.Status, &amp;job.CreatedAt,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3ff"/>
                </a:solidFill>
                <a:latin typeface="Consolas"/>
                <a:ea typeface="Consolas"/>
              </a:rPr>
              <a:t>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6858000" y="1691640"/>
            <a:ext cx="484560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b1f3b"/>
                </a:solidFill>
                <a:latin typeface="Calibri"/>
                <a:ea typeface="Calibri"/>
              </a:rPr>
              <a:t>Payload marshaled to JSON before insert — jobs.payload is jsonb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b1f3b"/>
                </a:solidFill>
                <a:latin typeface="Calibri"/>
                <a:ea typeface="Calibri"/>
              </a:rPr>
              <a:t>App supplies only ConsumerID, JobType, Payload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b1f3b"/>
                </a:solidFill>
                <a:latin typeface="Calibri"/>
                <a:ea typeface="Calibri"/>
              </a:rPr>
              <a:t>Postgres generates id, public_id, status default ('queued'), created_at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b1f3b"/>
                </a:solidFill>
                <a:latin typeface="Calibri"/>
                <a:ea typeface="Calibri"/>
              </a:rPr>
              <a:t>RETURNING pulls those generated values into the same struct in one round trip — no follow-up SELECT needed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6858000" y="4343400"/>
            <a:ext cx="4845600" cy="141660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7086600" y="449892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Foreign key: consumer_id → consumers(id)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7086600" y="4827960"/>
            <a:ext cx="4388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Violating it (code 23503) is translated to ErrRecordNotFound — a bad consumer_id becomes a 404, not a raw 500.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11612880" y="6473880"/>
            <a:ext cx="365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548640" y="3200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2a93b"/>
                </a:solidFill>
                <a:latin typeface="Calibri"/>
                <a:ea typeface="Calibri"/>
              </a:rPr>
              <a:t>TOPIC 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48640" y="567000"/>
            <a:ext cx="11063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Claiming Jobs Safely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548640" y="1600200"/>
            <a:ext cx="5760000" cy="4159800"/>
          </a:xfrm>
          <a:prstGeom prst="roundRect">
            <a:avLst>
              <a:gd name="adj" fmla="val 1319"/>
            </a:avLst>
          </a:prstGeom>
          <a:solidFill>
            <a:srgbClr val="1016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749880" y="1746360"/>
            <a:ext cx="5357520" cy="38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tx, _ := m.DB.BeginTx(ctx, nil)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defer tx.Rollback()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SELECT id, consumer_id, payload FROM jobs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WHERE status = 'queued' AND job_type = '...'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ORDER BY created_at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FOR UPDATE SKIP LOCKED LIMIT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UPDATE jobs SET status='processing',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started_at = now() WHERE id = $1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f"/>
                </a:solidFill>
                <a:latin typeface="Consolas"/>
                <a:ea typeface="Consolas"/>
              </a:rPr>
              <a:t>tx.Commit()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6675120" y="160020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Two workers poll at once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6675120" y="2057400"/>
            <a:ext cx="2102400" cy="502200"/>
          </a:xfrm>
          <a:prstGeom prst="roundRect">
            <a:avLst>
              <a:gd name="adj" fmla="val 14545"/>
            </a:avLst>
          </a:prstGeom>
          <a:solidFill>
            <a:srgbClr val="2a3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6675120" y="2057400"/>
            <a:ext cx="2102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Worker 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9509760" y="2057400"/>
            <a:ext cx="2102400" cy="502200"/>
          </a:xfrm>
          <a:prstGeom prst="roundRect">
            <a:avLst>
              <a:gd name="adj" fmla="val 14545"/>
            </a:avLst>
          </a:prstGeom>
          <a:solidFill>
            <a:srgbClr val="2a3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9509760" y="2057400"/>
            <a:ext cx="2102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Worker 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9"/>
          <p:cNvSpPr/>
          <p:nvPr/>
        </p:nvSpPr>
        <p:spPr>
          <a:xfrm>
            <a:off x="7269480" y="3063240"/>
            <a:ext cx="1736640" cy="45648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7269480" y="3063240"/>
            <a:ext cx="1736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job #1 — claimed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1"/>
          <p:cNvSpPr/>
          <p:nvPr/>
        </p:nvSpPr>
        <p:spPr>
          <a:xfrm>
            <a:off x="7726680" y="2560320"/>
            <a:ext cx="9000" cy="502920"/>
          </a:xfrm>
          <a:prstGeom prst="line">
            <a:avLst/>
          </a:prstGeom>
          <a:ln w="22225">
            <a:solidFill>
              <a:srgbClr val="2e7d5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2"/>
          <p:cNvSpPr/>
          <p:nvPr/>
        </p:nvSpPr>
        <p:spPr>
          <a:xfrm>
            <a:off x="10104120" y="3063240"/>
            <a:ext cx="1736640" cy="45648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10104120" y="3063240"/>
            <a:ext cx="1736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2761"/>
                </a:solidFill>
                <a:latin typeface="Calibri"/>
                <a:ea typeface="Calibri"/>
              </a:rPr>
              <a:t>job #2 — claimed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4"/>
          <p:cNvSpPr/>
          <p:nvPr/>
        </p:nvSpPr>
        <p:spPr>
          <a:xfrm>
            <a:off x="10561320" y="2560320"/>
            <a:ext cx="9000" cy="50292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6675120" y="3703320"/>
            <a:ext cx="49370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7280"/>
                </a:solidFill>
                <a:latin typeface="Calibri"/>
                <a:ea typeface="Calibri"/>
              </a:rPr>
              <a:t>Neither worker blocks waiting on the other — SKIP LOCKED lets each move to the next available row instead of queueing behind a lock.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6675120" y="4572000"/>
            <a:ext cx="493704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SELECT + UPDATE share one transaction — the claim and the state change are atomic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FOR UPDATE locks the selected row for the transaction's duration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SKIP LOCKED skips rows another transaction already locked, instead of blocking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ORDER BY created_at + LIMIT 1 → approximate FIFO, one job per call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11612880" y="6473880"/>
            <a:ext cx="365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548640" y="3200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2a93b"/>
                </a:solidFill>
                <a:latin typeface="Calibri"/>
                <a:ea typeface="Calibri"/>
              </a:rPr>
              <a:t>TOPIC 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548640" y="567000"/>
            <a:ext cx="11063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Worker: Goroutine, Ticker, Cancellation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548640" y="1600200"/>
            <a:ext cx="5394240" cy="4205520"/>
          </a:xfrm>
          <a:prstGeom prst="roundRect">
            <a:avLst>
              <a:gd name="adj" fmla="val 1304"/>
            </a:avLst>
          </a:prstGeom>
          <a:solidFill>
            <a:srgbClr val="1016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749880" y="1746360"/>
            <a:ext cx="4991760" cy="39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app.wg.Add(1)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go func() {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defer app.wg.Done()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ticker := time.NewTicker(interval)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defer ticker.Stop()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for {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select {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case &lt;-ctx.Done():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  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return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case &lt;-ticker.C: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  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processNextReportJob(ctx)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}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}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}()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7818120" y="2057400"/>
            <a:ext cx="1919520" cy="1919520"/>
          </a:xfrm>
          <a:prstGeom prst="ellipse">
            <a:avLst/>
          </a:prstGeom>
          <a:solidFill>
            <a:srgbClr val="f4f7fc"/>
          </a:solidFill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818120" y="2788920"/>
            <a:ext cx="191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select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6492240" y="1691640"/>
            <a:ext cx="2742480" cy="3834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6492240" y="169164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ticker.C  →  poll again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7772400" y="2075400"/>
            <a:ext cx="914400" cy="119160"/>
          </a:xfrm>
          <a:prstGeom prst="line">
            <a:avLst/>
          </a:prstGeom>
          <a:ln w="22225">
            <a:solidFill>
              <a:srgbClr val="f2a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9"/>
          <p:cNvSpPr/>
          <p:nvPr/>
        </p:nvSpPr>
        <p:spPr>
          <a:xfrm>
            <a:off x="9098280" y="4434840"/>
            <a:ext cx="2742480" cy="38340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9098280" y="443484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ctx.Done()  →  return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1"/>
          <p:cNvSpPr/>
          <p:nvPr/>
        </p:nvSpPr>
        <p:spPr>
          <a:xfrm>
            <a:off x="9235440" y="3840480"/>
            <a:ext cx="822960" cy="594360"/>
          </a:xfrm>
          <a:prstGeom prst="line">
            <a:avLst/>
          </a:prstGeom>
          <a:ln w="22225">
            <a:solidFill>
              <a:srgbClr val="b23a4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6309360" y="4983480"/>
            <a:ext cx="539424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wg.Add(1) happens before the goroutine starts — avoids a race with wg.Wait()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defer wg.Done() guarantees the counter drops however the loop exits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Ticker bounds pickup latency: worst case, one full poll interval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Artificial delay lives here (not the handler) — and is itself interruptible via the same ctx.Done() pattern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11612880" y="6473880"/>
            <a:ext cx="365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48640" y="3200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2a93b"/>
                </a:solidFill>
                <a:latin typeface="Calibri"/>
                <a:ea typeface="Calibri"/>
              </a:rPr>
              <a:t>TOPIC 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48640" y="567000"/>
            <a:ext cx="11063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Report Query: Joins, Aggregation, Outcomes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548640" y="1600200"/>
            <a:ext cx="5942880" cy="3016800"/>
          </a:xfrm>
          <a:prstGeom prst="roundRect">
            <a:avLst>
              <a:gd name="adj" fmla="val 1818"/>
            </a:avLst>
          </a:prstGeom>
          <a:solidFill>
            <a:srgbClr val="1016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749880" y="1746360"/>
            <a:ext cx="5540400" cy="27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SELECT c.id, c.name,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COUNT(DISTINCT k.id) FILTER (WHERE k.status='active'),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COUNT(DISTINCT j.id) FILTER (WHERE j.status='completed'), ...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FROM consumers 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LEFT JOIN api_keys k ON k.consumer_id = c.id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LEFT JOIN jobs j ON j.consumer_id = c.id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AND j.created_at &gt;= $2 AND j.created_at &lt; $3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WHERE c.id = $1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7e3ff"/>
                </a:solidFill>
                <a:latin typeface="Consolas"/>
                <a:ea typeface="Consolas"/>
              </a:rPr>
              <a:t>GROUP BY c.id, c.name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548640" y="4754880"/>
            <a:ext cx="5942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FROM consumers keeps the row even with zero keys/jobs (LEFT JOIN, not INNER)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Two LEFT JOINs fan out rows (3 keys × 5 jobs = 15) — COUNT(DISTINCT id) prevents that fan-out from inflating totals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FILTER (WHERE ...) computes six conditional counts in one pass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[from, to) half-open range avoids double-counting a job at the boundary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6858000" y="1600200"/>
            <a:ext cx="4845600" cy="1553760"/>
          </a:xfrm>
          <a:prstGeom prst="roundRect">
            <a:avLst>
              <a:gd name="adj" fmla="val 4706"/>
            </a:avLst>
          </a:prstGeom>
          <a:solidFill>
            <a:srgbClr val="e3f1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7086600" y="175572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5b"/>
                </a:solidFill>
                <a:latin typeface="Calibri"/>
                <a:ea typeface="Calibri"/>
              </a:rPr>
              <a:t>MarkCompleted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7086600" y="2103120"/>
            <a:ext cx="4388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1f3b"/>
                </a:solidFill>
                <a:latin typeface="Consolas"/>
                <a:ea typeface="Consolas"/>
              </a:rPr>
              <a:t>status='completed', result=&lt;json&gt;, completed_at=now()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7086600" y="2606040"/>
            <a:ext cx="4388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b7280"/>
                </a:solidFill>
                <a:latin typeface="Calibri"/>
                <a:ea typeface="Calibri"/>
              </a:rPr>
              <a:t>Report marshaled to JSON first — jobs.result is jsonb.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9"/>
          <p:cNvSpPr/>
          <p:nvPr/>
        </p:nvSpPr>
        <p:spPr>
          <a:xfrm>
            <a:off x="6858000" y="3337560"/>
            <a:ext cx="4845600" cy="1553760"/>
          </a:xfrm>
          <a:prstGeom prst="roundRect">
            <a:avLst>
              <a:gd name="adj" fmla="val 4706"/>
            </a:avLst>
          </a:prstGeom>
          <a:solidFill>
            <a:srgbClr val="f3e2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7086600" y="349308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23a48"/>
                </a:solidFill>
                <a:latin typeface="Calibri"/>
                <a:ea typeface="Calibri"/>
              </a:rPr>
              <a:t>MarkFailed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7086600" y="3840480"/>
            <a:ext cx="4388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1f3b"/>
                </a:solidFill>
                <a:latin typeface="Consolas"/>
                <a:ea typeface="Consolas"/>
              </a:rPr>
              <a:t>status='failed', error_message=&lt;msg&gt;, completed_at=now()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7086600" y="4343400"/>
            <a:ext cx="4388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b7280"/>
                </a:solidFill>
                <a:latin typeface="Calibri"/>
                <a:ea typeface="Calibri"/>
              </a:rPr>
              <a:t>A failed job is a legitimate outcome — POST already returned 202 before this could happen.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11612880" y="6473880"/>
            <a:ext cx="365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548640" y="3200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2a93b"/>
                </a:solidFill>
                <a:latin typeface="Calibri"/>
                <a:ea typeface="Calibri"/>
              </a:rPr>
              <a:t>TOPIC 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548640" y="567000"/>
            <a:ext cx="11063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Graceful Shutdown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2"/>
          <p:cNvSpPr/>
          <p:nvPr/>
        </p:nvSpPr>
        <p:spPr>
          <a:xfrm>
            <a:off x="548640" y="1691640"/>
            <a:ext cx="502200" cy="502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548640" y="16916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1280160" y="1664280"/>
            <a:ext cx="4296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761"/>
                </a:solidFill>
                <a:latin typeface="Calibri"/>
                <a:ea typeface="Calibri"/>
              </a:rPr>
              <a:t>SIGINT / SIGTERM caught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5715000" y="1691640"/>
            <a:ext cx="5851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signal.Notify(quit, ...) unblocks in serve()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799920" y="2194560"/>
            <a:ext cx="9000" cy="39312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7"/>
          <p:cNvSpPr/>
          <p:nvPr/>
        </p:nvSpPr>
        <p:spPr>
          <a:xfrm>
            <a:off x="548640" y="2587680"/>
            <a:ext cx="502200" cy="502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548640" y="25876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9"/>
          <p:cNvSpPr/>
          <p:nvPr/>
        </p:nvSpPr>
        <p:spPr>
          <a:xfrm>
            <a:off x="1280160" y="2560320"/>
            <a:ext cx="4296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761"/>
                </a:solidFill>
                <a:latin typeface="Calibri"/>
                <a:ea typeface="Calibri"/>
              </a:rPr>
              <a:t>srv.Shutdown(ctx)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5715000" y="2587680"/>
            <a:ext cx="5851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stop accepting new connections; drain in-flight requests (30s budget)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1"/>
          <p:cNvSpPr/>
          <p:nvPr/>
        </p:nvSpPr>
        <p:spPr>
          <a:xfrm>
            <a:off x="799920" y="3090600"/>
            <a:ext cx="9000" cy="39312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2"/>
          <p:cNvSpPr/>
          <p:nvPr/>
        </p:nvSpPr>
        <p:spPr>
          <a:xfrm>
            <a:off x="548640" y="3483720"/>
            <a:ext cx="502200" cy="502200"/>
          </a:xfrm>
          <a:prstGeom prst="ellipse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3"/>
          <p:cNvSpPr/>
          <p:nvPr/>
        </p:nvSpPr>
        <p:spPr>
          <a:xfrm>
            <a:off x="548640" y="348372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4"/>
          <p:cNvSpPr/>
          <p:nvPr/>
        </p:nvSpPr>
        <p:spPr>
          <a:xfrm>
            <a:off x="1280160" y="3456360"/>
            <a:ext cx="4296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2a93b"/>
                </a:solidFill>
                <a:latin typeface="Calibri"/>
                <a:ea typeface="Calibri"/>
              </a:rPr>
              <a:t>app.workerCancel()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5"/>
          <p:cNvSpPr/>
          <p:nvPr/>
        </p:nvSpPr>
        <p:spPr>
          <a:xfrm>
            <a:off x="5715000" y="3483720"/>
            <a:ext cx="5851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closes workerCtx.Done() — MUST run before step 4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6"/>
          <p:cNvSpPr/>
          <p:nvPr/>
        </p:nvSpPr>
        <p:spPr>
          <a:xfrm>
            <a:off x="799920" y="3986640"/>
            <a:ext cx="9000" cy="39312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7"/>
          <p:cNvSpPr/>
          <p:nvPr/>
        </p:nvSpPr>
        <p:spPr>
          <a:xfrm>
            <a:off x="548640" y="4380120"/>
            <a:ext cx="502200" cy="502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8"/>
          <p:cNvSpPr/>
          <p:nvPr/>
        </p:nvSpPr>
        <p:spPr>
          <a:xfrm>
            <a:off x="548640" y="438012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9"/>
          <p:cNvSpPr/>
          <p:nvPr/>
        </p:nvSpPr>
        <p:spPr>
          <a:xfrm>
            <a:off x="1280160" y="4352400"/>
            <a:ext cx="4296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761"/>
                </a:solidFill>
                <a:latin typeface="Calibri"/>
                <a:ea typeface="Calibri"/>
              </a:rPr>
              <a:t>worker's select sees ctx.Done()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0"/>
          <p:cNvSpPr/>
          <p:nvPr/>
        </p:nvSpPr>
        <p:spPr>
          <a:xfrm>
            <a:off x="5715000" y="4380120"/>
            <a:ext cx="5851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loop returns; deferred wg.Done() fires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1"/>
          <p:cNvSpPr/>
          <p:nvPr/>
        </p:nvSpPr>
        <p:spPr>
          <a:xfrm>
            <a:off x="799920" y="4882680"/>
            <a:ext cx="9000" cy="393120"/>
          </a:xfrm>
          <a:prstGeom prst="line">
            <a:avLst/>
          </a:prstGeom>
          <a:ln w="2222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22"/>
          <p:cNvSpPr/>
          <p:nvPr/>
        </p:nvSpPr>
        <p:spPr>
          <a:xfrm>
            <a:off x="548640" y="5276160"/>
            <a:ext cx="502200" cy="502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23"/>
          <p:cNvSpPr/>
          <p:nvPr/>
        </p:nvSpPr>
        <p:spPr>
          <a:xfrm>
            <a:off x="548640" y="527616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4"/>
          <p:cNvSpPr/>
          <p:nvPr/>
        </p:nvSpPr>
        <p:spPr>
          <a:xfrm>
            <a:off x="1280160" y="5248800"/>
            <a:ext cx="4296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761"/>
                </a:solidFill>
                <a:latin typeface="Calibri"/>
                <a:ea typeface="Calibri"/>
              </a:rPr>
              <a:t>app.wg.Wait() unblocks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5"/>
          <p:cNvSpPr/>
          <p:nvPr/>
        </p:nvSpPr>
        <p:spPr>
          <a:xfrm>
            <a:off x="5715000" y="5276160"/>
            <a:ext cx="5851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f3b"/>
                </a:solidFill>
                <a:latin typeface="Calibri"/>
                <a:ea typeface="Calibri"/>
              </a:rPr>
              <a:t>counter reached 0 — safe to exit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6"/>
          <p:cNvSpPr/>
          <p:nvPr/>
        </p:nvSpPr>
        <p:spPr>
          <a:xfrm>
            <a:off x="548640" y="6263640"/>
            <a:ext cx="11063520" cy="685080"/>
          </a:xfrm>
          <a:prstGeom prst="roundRect">
            <a:avLst>
              <a:gd name="adj" fmla="val 10667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7"/>
          <p:cNvSpPr/>
          <p:nvPr/>
        </p:nvSpPr>
        <p:spPr>
          <a:xfrm>
            <a:off x="777240" y="626364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b23a48"/>
                </a:solidFill>
                <a:latin typeface="Calibri"/>
                <a:ea typeface="Calibri"/>
              </a:rPr>
              <a:t>If workerCancel() never ran (or ran too late), the loop never sees ctx.Done() — wg.Wait() blocks forever and shutdown hangs.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8"/>
          <p:cNvSpPr/>
          <p:nvPr/>
        </p:nvSpPr>
        <p:spPr>
          <a:xfrm>
            <a:off x="11612880" y="6473880"/>
            <a:ext cx="365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548640" y="3200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2a93b"/>
                </a:solidFill>
                <a:latin typeface="Calibri"/>
                <a:ea typeface="Calibri"/>
              </a:rPr>
              <a:t>TOPIC J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548640" y="567000"/>
            <a:ext cx="11063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Measurement &amp; Interpretation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3" name="Chart 0"/>
          <p:cNvGraphicFramePr/>
          <p:nvPr/>
        </p:nvGraphicFramePr>
        <p:xfrm>
          <a:off x="548640" y="1600200"/>
          <a:ext cx="6857280" cy="4022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4" name="Shape 2"/>
          <p:cNvSpPr/>
          <p:nvPr/>
        </p:nvSpPr>
        <p:spPr>
          <a:xfrm>
            <a:off x="7635240" y="1691640"/>
            <a:ext cx="4022640" cy="3839760"/>
          </a:xfrm>
          <a:prstGeom prst="roundRect">
            <a:avLst>
              <a:gd name="adj" fmla="val 1905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7863840" y="187452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Reading the result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7863840" y="2240280"/>
            <a:ext cx="356544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ack_time stays flat — it only measures createReportHandler's own duration, which never touches reportDelay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complete_time scales almost 1:1 with --report-delay — it spans from before POST to the terminal status, including the worker's simulated wait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measure_async.sh drives this: --write-out captures ack_time; the poll loop's wall-clock span is complete_time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8000"/>
              </a:lnSpc>
              <a:spcAft>
                <a:spcPts val="1001"/>
              </a:spcAft>
              <a:buClr>
                <a:srgbClr val="1b1f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b1f3b"/>
                </a:solidFill>
                <a:latin typeface="Calibri"/>
                <a:ea typeface="Calibri"/>
              </a:rPr>
              <a:t>Controlled variable: --report-delay is the only thing changed between runs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11612880" y="6473880"/>
            <a:ext cx="365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11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822960" y="731520"/>
            <a:ext cx="10057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Architecture Summary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1"/>
          <p:cNvSpPr/>
          <p:nvPr/>
        </p:nvSpPr>
        <p:spPr>
          <a:xfrm>
            <a:off x="822960" y="1737360"/>
            <a:ext cx="2833920" cy="685080"/>
          </a:xfrm>
          <a:prstGeom prst="roundRect">
            <a:avLst>
              <a:gd name="adj" fmla="val 10667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822960" y="173736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POST handler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3931920" y="1737360"/>
            <a:ext cx="7405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accepts and records the work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822960" y="2788920"/>
            <a:ext cx="2833920" cy="685080"/>
          </a:xfrm>
          <a:prstGeom prst="roundRect">
            <a:avLst>
              <a:gd name="adj" fmla="val 10667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822960" y="278892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Worker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3931920" y="2788920"/>
            <a:ext cx="7405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executes that work later, off the request path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7"/>
          <p:cNvSpPr/>
          <p:nvPr/>
        </p:nvSpPr>
        <p:spPr>
          <a:xfrm>
            <a:off x="822960" y="3840480"/>
            <a:ext cx="2833920" cy="685080"/>
          </a:xfrm>
          <a:prstGeom prst="roundRect">
            <a:avLst>
              <a:gd name="adj" fmla="val 10667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822960" y="384048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PostgreSQL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3931920" y="3840480"/>
            <a:ext cx="7405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preserves state and results durably, the whole way through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10"/>
          <p:cNvSpPr/>
          <p:nvPr/>
        </p:nvSpPr>
        <p:spPr>
          <a:xfrm>
            <a:off x="822960" y="4892040"/>
            <a:ext cx="2833920" cy="685080"/>
          </a:xfrm>
          <a:prstGeom prst="roundRect">
            <a:avLst>
              <a:gd name="adj" fmla="val 10667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822960" y="489204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GET handler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2"/>
          <p:cNvSpPr/>
          <p:nvPr/>
        </p:nvSpPr>
        <p:spPr>
          <a:xfrm>
            <a:off x="3931920" y="4892040"/>
            <a:ext cx="7405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exposes whatever state is currently recorded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822960" y="621792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2026-08-30T20:31:11Z</dcterms:created>
  <dc:creator>PptxGenJS</dc:creator>
  <dc:description/>
  <dc:language>en-US</dc:language>
  <cp:lastModifiedBy/>
  <dcterms:modified xsi:type="dcterms:W3CDTF">2026-08-30T17:11:46Z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